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E0A33A"/>
                </a:solidFill>
                <a:latin typeface="Calibri"/>
              </a:rPr>
              <a:t>DBMS COURSE PROJECT  · 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583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Design and Implementation of a Database Management System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6766560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Hostel Accommodation and Student Services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2628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E0A33A"/>
                </a:solidFill>
                <a:latin typeface="Calibri"/>
              </a:rPr>
              <a:t>GROUP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46320"/>
            <a:ext cx="54864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Mohammed Amaan Khan  ·  25WU0101075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Arslan Alam  ·  25WU0101016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Jaswant Reddy  ·  25WU0101056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960120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1C456A"/>
          </a:solidFill>
          <a:ln w="12700">
            <a:solidFill>
              <a:srgbClr val="7FA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76488" y="960120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1C456A"/>
          </a:solidFill>
          <a:ln w="12700">
            <a:solidFill>
              <a:srgbClr val="7FA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34856" y="960120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93224" y="960120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451592" y="960120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1C456A"/>
          </a:solidFill>
          <a:ln w="12700">
            <a:solidFill>
              <a:srgbClr val="7FA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09960" y="960120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1C456A"/>
          </a:solidFill>
          <a:ln w="12700">
            <a:solidFill>
              <a:srgbClr val="7FA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18120" y="1618488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76488" y="1618488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1C456A"/>
          </a:solidFill>
          <a:ln w="12700">
            <a:solidFill>
              <a:srgbClr val="7FA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34856" y="1618488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93224" y="1618488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51592" y="1618488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1C456A"/>
          </a:solidFill>
          <a:ln w="12700">
            <a:solidFill>
              <a:srgbClr val="7FA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109960" y="1618488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1C456A"/>
          </a:solidFill>
          <a:ln w="12700">
            <a:solidFill>
              <a:srgbClr val="7FA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18120" y="2276856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76488" y="2276856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34856" y="2276856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93224" y="2276856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451592" y="2276856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1C456A"/>
          </a:solidFill>
          <a:ln w="12700">
            <a:solidFill>
              <a:srgbClr val="7FA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09960" y="2276856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18120" y="2935224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76488" y="2935224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34856" y="2935224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93224" y="2935224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451592" y="2935224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109960" y="2935224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18120" y="3593592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76488" y="3593592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34856" y="3593592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793224" y="3593592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451592" y="3593592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109960" y="3593592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18120" y="4251960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1C456A"/>
          </a:solidFill>
          <a:ln w="12700">
            <a:solidFill>
              <a:srgbClr val="7FA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76488" y="4251960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34856" y="4251960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793224" y="4251960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1C456A"/>
          </a:solidFill>
          <a:ln w="12700">
            <a:solidFill>
              <a:srgbClr val="7FA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451592" y="4251960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1109960" y="4251960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818120" y="5093208"/>
            <a:ext cx="164592" cy="164592"/>
          </a:xfrm>
          <a:prstGeom prst="ellipse">
            <a:avLst/>
          </a:prstGeom>
          <a:solidFill>
            <a:srgbClr val="3E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37576" y="503834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Occupied bed</a:t>
            </a:r>
          </a:p>
        </p:txBody>
      </p:sp>
      <p:sp>
        <p:nvSpPr>
          <p:cNvPr id="46" name="Oval 45"/>
          <p:cNvSpPr/>
          <p:nvPr/>
        </p:nvSpPr>
        <p:spPr>
          <a:xfrm>
            <a:off x="9144000" y="5093208"/>
            <a:ext cx="164592" cy="164592"/>
          </a:xfrm>
          <a:prstGeom prst="ellipse">
            <a:avLst/>
          </a:prstGeom>
          <a:solidFill>
            <a:srgbClr val="1C456A"/>
          </a:solidFill>
          <a:ln w="12700">
            <a:solidFill>
              <a:srgbClr val="7FA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63456" y="503834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Free bed</a:t>
            </a:r>
          </a:p>
        </p:txBody>
      </p:sp>
      <p:sp>
        <p:nvSpPr>
          <p:cNvPr id="48" name="Oval 47"/>
          <p:cNvSpPr/>
          <p:nvPr/>
        </p:nvSpPr>
        <p:spPr>
          <a:xfrm>
            <a:off x="10469880" y="5093208"/>
            <a:ext cx="164592" cy="164592"/>
          </a:xfrm>
          <a:prstGeom prst="ellipse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89336" y="503834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Open service request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2324F"/>
                </a:solidFill>
                <a:latin typeface="Georgia"/>
              </a:rPr>
              <a:t>The problem with hostel registers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E6A7E"/>
                </a:solidFill>
                <a:latin typeface="Calibri"/>
              </a:rPr>
              <a:t>Hostel Accommodation and Student Services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5E6A7E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394960" cy="32004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394960" cy="3200400"/>
          </a:xfrm>
          <a:prstGeom prst="roundRect">
            <a:avLst>
              <a:gd name="adj" fmla="val 4000"/>
            </a:avLst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C25552"/>
                </a:solidFill>
                <a:latin typeface="Calibri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846320" cy="2560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B2433"/>
                </a:solidFill>
                <a:latin typeface="Calibri"/>
              </a:rPr>
              <a:t>Beds allotted twice, or to a student who already has a room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B2433"/>
                </a:solidFill>
                <a:latin typeface="Calibri"/>
              </a:rPr>
              <a:t>Complaint slips lost; nobody knows who fixed what, or when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B2433"/>
                </a:solidFill>
                <a:latin typeface="Calibri"/>
              </a:rPr>
              <a:t>Rent receipts on paper; defaulters listed by hand every month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B2433"/>
                </a:solidFill>
                <a:latin typeface="Calibri"/>
              </a:rPr>
              <a:t>No quick way to find a free bed in a girls' or boys' hostel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508760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E0A33A"/>
                </a:solidFill>
                <a:latin typeface="Calibri"/>
              </a:rPr>
              <a:t>This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846320" cy="2560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Rooms, residents, requests and rent in one MySQL database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Allotment rules checked by the database: capacity, gender, one room each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Every service request tracked from Open to Resolved with a full history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Rent dues and free beds are one query 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2324F"/>
                </a:solidFill>
                <a:latin typeface="Calibri"/>
              </a:rPr>
              <a:t>Intended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57800"/>
            <a:ext cx="3566160" cy="868680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32918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2324F"/>
                </a:solidFill>
                <a:latin typeface="Calibri"/>
              </a:rPr>
              <a:t>Students</a:t>
            </a:r>
          </a:p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raise requests and pay rent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5257800"/>
            <a:ext cx="3566160" cy="868680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5349240"/>
            <a:ext cx="32918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2324F"/>
                </a:solidFill>
                <a:latin typeface="Calibri"/>
              </a:rPr>
              <a:t>Wardens</a:t>
            </a:r>
          </a:p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allot rooms and track dues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5257800"/>
            <a:ext cx="3566160" cy="868680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5349240"/>
            <a:ext cx="32918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2324F"/>
                </a:solidFill>
                <a:latin typeface="Calibri"/>
              </a:rPr>
              <a:t>Service staff</a:t>
            </a:r>
          </a:p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resolve requests step by step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2324F"/>
                </a:solidFill>
                <a:latin typeface="Georgia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E6A7E"/>
                </a:solidFill>
                <a:latin typeface="Calibri"/>
              </a:rPr>
              <a:t>Hostel Accommodation and Student Services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5E6A7E"/>
                </a:solidFill>
                <a:latin typeface="Calibri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435607"/>
            <a:ext cx="457200" cy="457200"/>
          </a:xfrm>
          <a:prstGeom prst="ellipse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25880"/>
            <a:ext cx="59436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12324F"/>
                </a:solidFill>
                <a:latin typeface="Calibri"/>
              </a:rPr>
              <a:t>Normalized schema</a:t>
            </a:r>
          </a:p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Store hostels, rooms, students, staff and departments in 3NF.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40280"/>
            <a:ext cx="59436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12324F"/>
                </a:solidFill>
                <a:latin typeface="Calibri"/>
              </a:rPr>
              <a:t>Room allotment</a:t>
            </a:r>
          </a:p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Allot and vacate rooms, keep every stay as history.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64408"/>
            <a:ext cx="457200" cy="457200"/>
          </a:xfrm>
          <a:prstGeom prst="ellipse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54680"/>
            <a:ext cx="59436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12324F"/>
                </a:solidFill>
                <a:latin typeface="Calibri"/>
              </a:rPr>
              <a:t>Service workflow</a:t>
            </a:r>
          </a:p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Track requests through Open, Assigned, In Progress, Resolved.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178808"/>
            <a:ext cx="457200" cy="457200"/>
          </a:xfrm>
          <a:prstGeom prst="ellipse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69080"/>
            <a:ext cx="59436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12324F"/>
                </a:solidFill>
                <a:latin typeface="Calibri"/>
              </a:rPr>
              <a:t>Rent tracking</a:t>
            </a:r>
          </a:p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Record monthly rent and list residents with dues.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093208"/>
            <a:ext cx="457200" cy="457200"/>
          </a:xfrm>
          <a:prstGeom prst="ellipse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983480"/>
            <a:ext cx="59436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12324F"/>
                </a:solidFill>
                <a:latin typeface="Calibri"/>
              </a:rPr>
              <a:t>Data integrity</a:t>
            </a:r>
          </a:p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Enforce rules with constraints, triggers and procedures.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463040"/>
            <a:ext cx="3749039" cy="4206240"/>
          </a:xfrm>
          <a:prstGeom prst="roundRect">
            <a:avLst>
              <a:gd name="adj" fmla="val 5000"/>
            </a:avLst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783080"/>
            <a:ext cx="329184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0" b="1" i="0">
                <a:solidFill>
                  <a:srgbClr val="E0A33A"/>
                </a:solidFill>
                <a:latin typeface="Georgia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880360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tables in Third Normal 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657600"/>
            <a:ext cx="320040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 stored procedures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4 triggers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3 views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9 report queries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2324F"/>
                </a:solidFill>
                <a:latin typeface="Georgia"/>
              </a:rPr>
              <a:t>ER design: ten 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E6A7E"/>
                </a:solidFill>
                <a:latin typeface="Calibri"/>
              </a:rPr>
              <a:t>Hostel Accommodation and Student Services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5E6A7E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103120" cy="1508760"/>
          </a:xfrm>
          <a:prstGeom prst="roundRect">
            <a:avLst>
              <a:gd name="adj" fmla="val 6000"/>
            </a:avLst>
          </a:prstGeom>
          <a:solidFill>
            <a:srgbClr val="EAF5EC"/>
          </a:solidFill>
          <a:ln w="12700">
            <a:solidFill>
              <a:srgbClr val="5B9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B2433"/>
                </a:solidFill>
                <a:latin typeface="Calibri"/>
              </a:rPr>
              <a:t>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65960"/>
            <a:ext cx="19202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E6A7E"/>
                </a:solidFill>
                <a:latin typeface="Calibri"/>
              </a:rPr>
              <a:t>dept_id | dept_code | dept_name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1417320"/>
            <a:ext cx="2103120" cy="1508760"/>
          </a:xfrm>
          <a:prstGeom prst="roundRect">
            <a:avLst>
              <a:gd name="adj" fmla="val 6000"/>
            </a:avLst>
          </a:prstGeom>
          <a:solidFill>
            <a:srgbClr val="EAF5EC"/>
          </a:solidFill>
          <a:ln w="12700">
            <a:solidFill>
              <a:srgbClr val="5B9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554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B2433"/>
                </a:solidFill>
                <a:latin typeface="Calibri"/>
              </a:rPr>
              <a:t>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65960"/>
            <a:ext cx="19202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E6A7E"/>
                </a:solidFill>
                <a:latin typeface="Calibri"/>
              </a:rPr>
              <a:t>student_id | roll_no | gender | dept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417320"/>
            <a:ext cx="2103120" cy="1508760"/>
          </a:xfrm>
          <a:prstGeom prst="roundRect">
            <a:avLst>
              <a:gd name="adj" fmla="val 6000"/>
            </a:avLst>
          </a:prstGeom>
          <a:solidFill>
            <a:srgbClr val="EAF5EC"/>
          </a:solidFill>
          <a:ln w="12700">
            <a:solidFill>
              <a:srgbClr val="5B9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1554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B2433"/>
                </a:solidFill>
                <a:latin typeface="Calibri"/>
              </a:rPr>
              <a:t>Staff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965960"/>
            <a:ext cx="19202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E6A7E"/>
                </a:solidFill>
                <a:latin typeface="Calibri"/>
              </a:rPr>
              <a:t>staff_id | name | designation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51775" y="1417320"/>
            <a:ext cx="2103120" cy="1508760"/>
          </a:xfrm>
          <a:prstGeom prst="roundRect">
            <a:avLst>
              <a:gd name="adj" fmla="val 6000"/>
            </a:avLst>
          </a:prstGeom>
          <a:solidFill>
            <a:srgbClr val="EAF5EC"/>
          </a:solidFill>
          <a:ln w="12700">
            <a:solidFill>
              <a:srgbClr val="5B9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61503" y="1554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B2433"/>
                </a:solidFill>
                <a:latin typeface="Calibri"/>
              </a:rPr>
              <a:t>Service_Type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1503" y="1965960"/>
            <a:ext cx="19202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E6A7E"/>
                </a:solidFill>
                <a:latin typeface="Calibri"/>
              </a:rPr>
              <a:t>type_name | target_days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19488" y="1417320"/>
            <a:ext cx="2103120" cy="150876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2700">
            <a:solidFill>
              <a:srgbClr val="5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9215" y="1554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B2433"/>
                </a:solidFill>
                <a:latin typeface="Calibri"/>
              </a:rPr>
              <a:t>Hostel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9215" y="1965960"/>
            <a:ext cx="19202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E6A7E"/>
                </a:solidFill>
                <a:latin typeface="Calibri"/>
              </a:rPr>
              <a:t>hostel_id | name | Boys/Girls | warden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246120"/>
            <a:ext cx="2103120" cy="150876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2700">
            <a:solidFill>
              <a:srgbClr val="5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38327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B2433"/>
                </a:solidFill>
                <a:latin typeface="Calibri"/>
              </a:rPr>
              <a:t>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794759"/>
            <a:ext cx="19202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E6A7E"/>
                </a:solidFill>
                <a:latin typeface="Calibri"/>
              </a:rPr>
              <a:t>room_no | capacity | monthly_rent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16352" y="3246120"/>
            <a:ext cx="2103120" cy="150876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2700">
            <a:solidFill>
              <a:srgbClr val="5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338327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B2433"/>
                </a:solidFill>
                <a:latin typeface="Calibri"/>
              </a:rPr>
              <a:t>Allocation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794759"/>
            <a:ext cx="19202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E6A7E"/>
                </a:solidFill>
                <a:latin typeface="Calibri"/>
              </a:rPr>
              <a:t>student | room | check_in | 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84064" y="3246120"/>
            <a:ext cx="2103120" cy="150876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2700">
            <a:solidFill>
              <a:srgbClr val="C060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93792" y="338327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B2433"/>
                </a:solidFill>
                <a:latin typeface="Calibri"/>
              </a:rPr>
              <a:t>Service_Request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3794759"/>
            <a:ext cx="19202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E6A7E"/>
                </a:solidFill>
                <a:latin typeface="Calibri"/>
              </a:rPr>
              <a:t>description | status | resolved_on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51775" y="3246120"/>
            <a:ext cx="2103120" cy="150876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2700">
            <a:solidFill>
              <a:srgbClr val="C060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61503" y="338327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B2433"/>
                </a:solidFill>
                <a:latin typeface="Calibri"/>
              </a:rPr>
              <a:t>Request_Update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1503" y="3794759"/>
            <a:ext cx="19202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E6A7E"/>
                </a:solidFill>
                <a:latin typeface="Calibri"/>
              </a:rPr>
              <a:t>new_status | staff | remarks | 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19488" y="3246120"/>
            <a:ext cx="2103120" cy="150876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 w="12700">
            <a:solidFill>
              <a:srgbClr val="C08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29215" y="338327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B2433"/>
                </a:solidFill>
                <a:latin typeface="Calibri"/>
              </a:rPr>
              <a:t>Fee_Payment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5" y="3794759"/>
            <a:ext cx="19202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E6A7E"/>
                </a:solidFill>
                <a:latin typeface="Calibri"/>
              </a:rPr>
              <a:t>fee_month | amount | mode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49240"/>
            <a:ext cx="274320" cy="201168"/>
          </a:xfrm>
          <a:prstGeom prst="rect">
            <a:avLst/>
          </a:prstGeom>
          <a:solidFill>
            <a:srgbClr val="EAF5EC"/>
          </a:solidFill>
          <a:ln w="12700">
            <a:solidFill>
              <a:srgbClr val="5B9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30352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E6A7E"/>
                </a:solidFill>
                <a:latin typeface="Calibri"/>
              </a:rPr>
              <a:t>Master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5349240"/>
            <a:ext cx="274320" cy="201168"/>
          </a:xfrm>
          <a:prstGeom prst="rect">
            <a:avLst/>
          </a:prstGeom>
          <a:solidFill>
            <a:srgbClr val="E8F0FB"/>
          </a:solidFill>
          <a:ln w="12700">
            <a:solidFill>
              <a:srgbClr val="5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530352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E6A7E"/>
                </a:solidFill>
                <a:latin typeface="Calibri"/>
              </a:rPr>
              <a:t>Hostel and allotment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5349240"/>
            <a:ext cx="274320" cy="201168"/>
          </a:xfrm>
          <a:prstGeom prst="rect">
            <a:avLst/>
          </a:prstGeom>
          <a:solidFill>
            <a:srgbClr val="FBEAEA"/>
          </a:solidFill>
          <a:ln w="12700">
            <a:solidFill>
              <a:srgbClr val="C060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530352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E6A7E"/>
                </a:solidFill>
                <a:latin typeface="Calibri"/>
              </a:rPr>
              <a:t>Service workflow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5349240"/>
            <a:ext cx="274320" cy="201168"/>
          </a:xfrm>
          <a:prstGeom prst="rect">
            <a:avLst/>
          </a:prstGeom>
          <a:solidFill>
            <a:srgbClr val="FDF3E1"/>
          </a:solidFill>
          <a:ln w="12700">
            <a:solidFill>
              <a:srgbClr val="C08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530352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E6A7E"/>
                </a:solidFill>
                <a:latin typeface="Calibri"/>
              </a:rPr>
              <a:t>Fee payment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2324F"/>
                </a:solidFill>
                <a:latin typeface="Georgia"/>
              </a:rPr>
              <a:t>Relationships and cardinality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E6A7E"/>
                </a:solidFill>
                <a:latin typeface="Calibri"/>
              </a:rPr>
              <a:t>Hostel Accommodation and Student Services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5E6A7E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097280"/>
            <a:ext cx="8219768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08192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E6A7E"/>
                </a:solidFill>
                <a:latin typeface="Calibri"/>
              </a:rPr>
              <a:t>1 = one, N = many. Allocation resolves the M:N relationship between Student and Room and keeps the dates of each stay.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2324F"/>
                </a:solidFill>
                <a:latin typeface="Georgia"/>
              </a:rPr>
              <a:t>Normalization up to 3NF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E6A7E"/>
                </a:solidFill>
                <a:latin typeface="Calibri"/>
              </a:rPr>
              <a:t>Hostel Accommodation and Student Services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5E6A7E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88720" cy="1188720"/>
          </a:xfrm>
          <a:prstGeom prst="roundRect">
            <a:avLst>
              <a:gd name="adj" fmla="val 10000"/>
            </a:avLst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88720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E0A33A"/>
                </a:solidFill>
                <a:latin typeface="Georgia"/>
              </a:rPr>
              <a:t>1NF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508760"/>
            <a:ext cx="512064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 i="0">
                <a:solidFill>
                  <a:srgbClr val="1B2433"/>
                </a:solidFill>
                <a:latin typeface="Calibri"/>
              </a:rPr>
              <a:t>All values are atomic and every table has a primary key. Each payment and each request step is its own row.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1188720" cy="1188720"/>
          </a:xfrm>
          <a:prstGeom prst="roundRect">
            <a:avLst>
              <a:gd name="adj" fmla="val 10000"/>
            </a:avLst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1188720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E0A33A"/>
                </a:solidFill>
                <a:latin typeface="Georgia"/>
              </a:rPr>
              <a:t>2NF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971800"/>
            <a:ext cx="512064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 i="0">
                <a:solidFill>
                  <a:srgbClr val="1B2433"/>
                </a:solidFill>
                <a:latin typeface="Calibri"/>
              </a:rPr>
              <a:t>No partial dependencies. Composite candidate keys such as (hostel_id, room_no) determine the whole row.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1188720" cy="1188720"/>
          </a:xfrm>
          <a:prstGeom prst="roundRect">
            <a:avLst>
              <a:gd name="adj" fmla="val 10000"/>
            </a:avLst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1188720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E0A33A"/>
                </a:solidFill>
                <a:latin typeface="Georgia"/>
              </a:rPr>
              <a:t>3NF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4434840"/>
            <a:ext cx="512064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 i="0">
                <a:solidFill>
                  <a:srgbClr val="1B2433"/>
                </a:solidFill>
                <a:latin typeface="Calibri"/>
              </a:rPr>
              <a:t>No transitive dependencies. Hostel names, rent and service type targets each live in one table only.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371600"/>
            <a:ext cx="4114800" cy="4023360"/>
          </a:xfrm>
          <a:prstGeom prst="roundRect">
            <a:avLst>
              <a:gd name="adj" fmla="val 5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2324F"/>
                </a:solidFill>
                <a:latin typeface="Calibri"/>
              </a:rPr>
              <a:t>Example: 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011680"/>
            <a:ext cx="3566160" cy="3291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B2433"/>
                </a:solidFill>
                <a:latin typeface="Calibri"/>
              </a:rPr>
              <a:t>room_id → monthly_rent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B2433"/>
                </a:solidFill>
                <a:latin typeface="Calibri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B2433"/>
                </a:solidFill>
                <a:latin typeface="Calibri"/>
              </a:rPr>
              <a:t>Rent is stored once in Room. Allocation keeps only room_id, so a rent change is a single UPDATE and every resident sees it.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B2433"/>
                </a:solidFill>
                <a:latin typeface="Calibri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B2433"/>
                </a:solidFill>
                <a:latin typeface="Calibri"/>
              </a:rPr>
              <a:t>No update, insertion or deletion anomaly.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2324F"/>
                </a:solidFill>
                <a:latin typeface="Georgia"/>
              </a:rPr>
              <a:t>Service request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E6A7E"/>
                </a:solidFill>
                <a:latin typeface="Calibri"/>
              </a:rPr>
              <a:t>Hostel Accommodation and Student Services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5E6A7E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2324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560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2324F"/>
                </a:solidFill>
                <a:latin typeface="Calibri"/>
              </a:rPr>
              <a:t>Student raises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5603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E6A7E"/>
                </a:solidFill>
                <a:latin typeface="Calibri"/>
              </a:rPr>
              <a:t>sp_raise_request checks residency and duplicates.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2377440" cy="457200"/>
          </a:xfrm>
          <a:prstGeom prst="roundRect">
            <a:avLst>
              <a:gd name="adj" fmla="val 3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23774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12324F"/>
                </a:solidFill>
                <a:latin typeface="Calibri"/>
              </a:rPr>
              <a:t>Status: Open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99232" y="3310128"/>
            <a:ext cx="320040" cy="237744"/>
          </a:xfrm>
          <a:prstGeom prst="rightArrow">
            <a:avLst/>
          </a:prstGeom>
          <a:solidFill>
            <a:srgbClr val="8A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3280" y="1371600"/>
            <a:ext cx="457200" cy="457200"/>
          </a:xfrm>
          <a:prstGeom prst="ellipse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2324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965960"/>
            <a:ext cx="2560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2324F"/>
                </a:solidFill>
                <a:latin typeface="Calibri"/>
              </a:rPr>
              <a:t>Staff assigns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77440"/>
            <a:ext cx="25603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E6A7E"/>
                </a:solidFill>
                <a:latin typeface="Calibri"/>
              </a:rPr>
              <a:t>Staff of the matching trade take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200400"/>
            <a:ext cx="2377440" cy="457200"/>
          </a:xfrm>
          <a:prstGeom prst="roundRect">
            <a:avLst>
              <a:gd name="adj" fmla="val 3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200400"/>
            <a:ext cx="23774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12324F"/>
                </a:solidFill>
                <a:latin typeface="Calibri"/>
              </a:rPr>
              <a:t>Status: Assigned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33872" y="3310128"/>
            <a:ext cx="320040" cy="237744"/>
          </a:xfrm>
          <a:prstGeom prst="rightArrow">
            <a:avLst/>
          </a:prstGeom>
          <a:solidFill>
            <a:srgbClr val="8A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17920" y="1371600"/>
            <a:ext cx="457200" cy="457200"/>
          </a:xfrm>
          <a:prstGeom prst="ellipse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2324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965960"/>
            <a:ext cx="2560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2324F"/>
                </a:solidFill>
                <a:latin typeface="Calibri"/>
              </a:rPr>
              <a:t>Staff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77440"/>
            <a:ext cx="25603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E6A7E"/>
                </a:solidFill>
                <a:latin typeface="Calibri"/>
              </a:rPr>
              <a:t>Work has started; remarks are saved.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00400"/>
            <a:ext cx="2377440" cy="457200"/>
          </a:xfrm>
          <a:prstGeom prst="roundRect">
            <a:avLst>
              <a:gd name="adj" fmla="val 3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200400"/>
            <a:ext cx="23774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12324F"/>
                </a:solidFill>
                <a:latin typeface="Calibri"/>
              </a:rPr>
              <a:t>Status: In Progress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68512" y="3310128"/>
            <a:ext cx="320040" cy="237744"/>
          </a:xfrm>
          <a:prstGeom prst="rightArrow">
            <a:avLst/>
          </a:prstGeom>
          <a:solidFill>
            <a:srgbClr val="8A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52560" y="1371600"/>
            <a:ext cx="457200" cy="457200"/>
          </a:xfrm>
          <a:prstGeom prst="ellipse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2324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1965960"/>
            <a:ext cx="2560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2324F"/>
                </a:solidFill>
                <a:latin typeface="Calibri"/>
              </a:rPr>
              <a:t>Staff closes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377440"/>
            <a:ext cx="25603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E6A7E"/>
                </a:solidFill>
                <a:latin typeface="Calibri"/>
              </a:rPr>
              <a:t>Trigger stamps resolved_on.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3200400"/>
            <a:ext cx="2377440" cy="457200"/>
          </a:xfrm>
          <a:prstGeom prst="roundRect">
            <a:avLst>
              <a:gd name="adj" fmla="val 3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3200400"/>
            <a:ext cx="23774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12324F"/>
                </a:solidFill>
                <a:latin typeface="Calibri"/>
              </a:rPr>
              <a:t>Status: Resolved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114800"/>
            <a:ext cx="11064240" cy="1920240"/>
          </a:xfrm>
          <a:prstGeom prst="roundRect">
            <a:avLst>
              <a:gd name="adj" fmla="val 5000"/>
            </a:avLst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29768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E0A33A"/>
                </a:solidFill>
                <a:latin typeface="Calibri"/>
              </a:rPr>
              <a:t>Enforced by the 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709160"/>
            <a:ext cx="105156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trg_update_before_insert allows only the next step, and nothing after Resolved or Cancelled.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trg_update_after_insert copies the status to the request. Every step is a row in request_update: staff, remarks, time.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Room allotment has its own trigger: no full room, no hostel of the other gender, one active room per student.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2324F"/>
                </a:solidFill>
                <a:latin typeface="Georgia"/>
              </a:rPr>
              <a:t>Database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E6A7E"/>
                </a:solidFill>
                <a:latin typeface="Calibri"/>
              </a:rPr>
              <a:t>Hostel Accommodation and Student Services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5E6A7E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694944"/>
          </a:xfrm>
          <a:prstGeom prst="roundRect">
            <a:avLst>
              <a:gd name="adj" fmla="val 15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408176"/>
            <a:ext cx="438912" cy="438912"/>
          </a:xfrm>
          <a:prstGeom prst="ellipse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280160"/>
            <a:ext cx="1920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2324F"/>
                </a:solidFill>
                <a:latin typeface="Calibri"/>
              </a:rPr>
              <a:t>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280160"/>
            <a:ext cx="822960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1B2433"/>
                </a:solidFill>
                <a:latin typeface="Calibri"/>
              </a:rPr>
              <a:t>PK, FK, UNIQUE (hostel_id, room_no), (student_id, fee_month); CHECK capacity 1 to 3, year 1 to 4, check_out &gt;= check_in.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84831"/>
            <a:ext cx="11064240" cy="694944"/>
          </a:xfrm>
          <a:prstGeom prst="roundRect">
            <a:avLst>
              <a:gd name="adj" fmla="val 15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2212848"/>
            <a:ext cx="438912" cy="438912"/>
          </a:xfrm>
          <a:prstGeom prst="ellipse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084831"/>
            <a:ext cx="1920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2324F"/>
                </a:solidFill>
                <a:latin typeface="Calibri"/>
              </a:rPr>
              <a:t>Indexes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84831"/>
            <a:ext cx="822960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1B2433"/>
                </a:solidFill>
                <a:latin typeface="Calibri"/>
              </a:rPr>
              <a:t>allocation(room_id, status), allocation(student_id, status), service_request(status), fee_payment(fee_month).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89504"/>
            <a:ext cx="11064240" cy="694944"/>
          </a:xfrm>
          <a:prstGeom prst="roundRect">
            <a:avLst>
              <a:gd name="adj" fmla="val 15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017520"/>
            <a:ext cx="438912" cy="438912"/>
          </a:xfrm>
          <a:prstGeom prst="ellipse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89504"/>
            <a:ext cx="1920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2324F"/>
                </a:solidFill>
                <a:latin typeface="Calibri"/>
              </a:rPr>
              <a:t>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889504"/>
            <a:ext cx="822960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1B2433"/>
                </a:solidFill>
                <a:latin typeface="Calibri"/>
              </a:rPr>
              <a:t>v_room_occupancy, v_open_requests and v_fee_summary.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11064240" cy="694944"/>
          </a:xfrm>
          <a:prstGeom prst="roundRect">
            <a:avLst>
              <a:gd name="adj" fmla="val 15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822191"/>
            <a:ext cx="438912" cy="438912"/>
          </a:xfrm>
          <a:prstGeom prst="ellipse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694176"/>
            <a:ext cx="1920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2324F"/>
                </a:solidFill>
                <a:latin typeface="Calibri"/>
              </a:rPr>
              <a:t>Procedures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694176"/>
            <a:ext cx="822960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1B2433"/>
                </a:solidFill>
                <a:latin typeface="Calibri"/>
              </a:rPr>
              <a:t>sp_allocate_room allots a bed; sp_raise_request accepts only residents and one open request per type.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98848"/>
            <a:ext cx="11064240" cy="694944"/>
          </a:xfrm>
          <a:prstGeom prst="roundRect">
            <a:avLst>
              <a:gd name="adj" fmla="val 15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4626864"/>
            <a:ext cx="438912" cy="438912"/>
          </a:xfrm>
          <a:prstGeom prst="ellipse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498848"/>
            <a:ext cx="1920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2324F"/>
                </a:solidFill>
                <a:latin typeface="Calibri"/>
              </a:rPr>
              <a:t>Triggers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498848"/>
            <a:ext cx="822960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1B2433"/>
                </a:solidFill>
                <a:latin typeface="Calibri"/>
              </a:rPr>
              <a:t>Allotment rules, the request step order and status update, and rent equal to the room's rent.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03520"/>
            <a:ext cx="11064240" cy="694944"/>
          </a:xfrm>
          <a:prstGeom prst="roundRect">
            <a:avLst>
              <a:gd name="adj" fmla="val 15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5431536"/>
            <a:ext cx="438912" cy="438912"/>
          </a:xfrm>
          <a:prstGeom prst="ellipse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303520"/>
            <a:ext cx="1920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2324F"/>
                </a:solidFill>
                <a:latin typeface="Calibri"/>
              </a:rPr>
              <a:t>Queries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303520"/>
            <a:ext cx="822960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1B2433"/>
                </a:solidFill>
                <a:latin typeface="Calibri"/>
              </a:rPr>
              <a:t>Nine report queries (Q1 to Q9): free beds, open requests, request history, dues, collection per hostel.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2324F"/>
                </a:solidFill>
                <a:latin typeface="Georgia"/>
              </a:rPr>
              <a:t>Live demo: database and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E6A7E"/>
                </a:solidFill>
                <a:latin typeface="Calibri"/>
              </a:rPr>
              <a:t>Hostel Accommodation and Student Services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5E6A7E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5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45920"/>
            <a:ext cx="457200" cy="457200"/>
          </a:xfrm>
          <a:prstGeom prst="ellipse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45920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12324F"/>
                </a:solidFill>
                <a:latin typeface="Calibri"/>
              </a:rP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94560"/>
            <a:ext cx="429768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Run hostel_management_system.sql: tables, keys, checks, indexes, views, procedures, triggers.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5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645920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12324F"/>
                </a:solidFill>
                <a:latin typeface="Calibri"/>
              </a:rPr>
              <a:t>Insert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194560"/>
            <a:ext cx="429768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Sample data loaded: at least five records in every table, allotments made through the procedure.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5440680" cy="2103120"/>
          </a:xfrm>
          <a:prstGeom prst="roundRect">
            <a:avLst>
              <a:gd name="adj" fmla="val 5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59" y="3977639"/>
            <a:ext cx="457200" cy="457200"/>
          </a:xfrm>
          <a:prstGeom prst="ellipse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77639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12324F"/>
                </a:solidFill>
                <a:latin typeface="Calibri"/>
              </a:rPr>
              <a:t>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26280"/>
            <a:ext cx="429768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Run Q1 to Q9: joins across four tables, GROUP BY, HAVING, NOT EXISTS, views.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03320"/>
            <a:ext cx="5440680" cy="2103120"/>
          </a:xfrm>
          <a:prstGeom prst="roundRect">
            <a:avLst>
              <a:gd name="adj" fmla="val 5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977639"/>
            <a:ext cx="457200" cy="457200"/>
          </a:xfrm>
          <a:prstGeom prst="ellipse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977639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12324F"/>
                </a:solidFill>
                <a:latin typeface="Calibri"/>
              </a:rPr>
              <a:t>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526280"/>
            <a:ext cx="429768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Try to allot a full room or skip a request step and show MySQL refusing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2324F"/>
                </a:solidFill>
                <a:latin typeface="Georgia"/>
              </a:rPr>
              <a:t>Expected results with the sample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E6A7E"/>
                </a:solidFill>
                <a:latin typeface="Calibri"/>
              </a:rPr>
              <a:t>Hostel Accommodation and Student Services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5E6A7E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E0A33A"/>
                </a:solidFill>
                <a:latin typeface="Calibri"/>
              </a:rPr>
              <a:t>OCCUPANCY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Free beds = capacity − Active allocations of the room   (view v_room_occupancy)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32004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12324F"/>
                </a:solidFill>
                <a:latin typeface="Georgia"/>
              </a:rPr>
              <a:t>7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E6A7E"/>
                </a:solidFill>
                <a:latin typeface="Calibri"/>
              </a:rPr>
              <a:t>beds taken after the script (47%)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251460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2606040"/>
            <a:ext cx="32004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12324F"/>
                </a:solidFill>
                <a:latin typeface="Georg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337560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E6A7E"/>
                </a:solidFill>
                <a:latin typeface="Calibri"/>
              </a:rPr>
              <a:t>residents with October rent due (Q6)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251460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606040"/>
            <a:ext cx="32004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12324F"/>
                </a:solidFill>
                <a:latin typeface="Georg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337560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E6A7E"/>
                </a:solidFill>
                <a:latin typeface="Calibri"/>
              </a:rPr>
              <a:t>requests resolved, 3 still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1097280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B2433"/>
                </a:solidFill>
                <a:latin typeface="Calibri"/>
              </a:rPr>
              <a:t>Divya Menon is refused Aryabhata Block (boys) and G101 (full), then allotted M301: occupancy becomes 8 of 15.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B2433"/>
                </a:solidFill>
                <a:latin typeface="Calibri"/>
              </a:rPr>
              <a:t>Request #7 goes Open, Assigned, In Progress, Resolved; the trigger fills in resolved_on.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B2433"/>
                </a:solidFill>
                <a:latin typeface="Calibri"/>
              </a:rPr>
              <a:t>Rohan Das pays Rs. 4,000: refused by the trigger. He pays Rs. 4,500: accepted, and he drops off the dues list.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2324F"/>
                </a:solidFill>
                <a:latin typeface="Georgia"/>
              </a:rPr>
              <a:t>User interface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E6A7E"/>
                </a:solidFill>
                <a:latin typeface="Calibri"/>
              </a:rPr>
              <a:t>Hostel Accommodation and Student Services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5E6A7E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fi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309360" cy="40419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78040" y="1234440"/>
            <a:ext cx="4480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2324F"/>
                </a:solidFill>
                <a:latin typeface="Calibri"/>
              </a:rPr>
              <a:t>Node.js + Express + mysql2, connected to MySQL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783080"/>
            <a:ext cx="4434840" cy="1143000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1874519"/>
            <a:ext cx="41148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2324F"/>
                </a:solidFill>
                <a:latin typeface="Calibri"/>
              </a:rPr>
              <a:t>Insert</a:t>
            </a:r>
          </a:p>
          <a:p>
            <a:pPr algn="l"/>
            <a:r>
              <a:rPr sz="1200" b="0" i="0">
                <a:solidFill>
                  <a:srgbClr val="1B2433"/>
                </a:solidFill>
                <a:latin typeface="Calibri"/>
              </a:rPr>
              <a:t>Raise a request, allot a room, pay rent, or add a row in Records; then show the new row in MySQL.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3108960"/>
            <a:ext cx="4434840" cy="1143000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3200400"/>
            <a:ext cx="41148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2324F"/>
                </a:solidFill>
                <a:latin typeface="Calibri"/>
              </a:rPr>
              <a:t>Delete</a:t>
            </a:r>
          </a:p>
          <a:p>
            <a:pPr algn="l"/>
            <a:r>
              <a:rPr sz="1200" b="0" i="0">
                <a:solidFill>
                  <a:srgbClr val="1B2433"/>
                </a:solidFill>
                <a:latin typeface="Calibri"/>
              </a:rPr>
              <a:t>Cancel a request or delete a row in Records; a hostel still in use is refused by the foreign key.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4434840"/>
            <a:ext cx="4434840" cy="1143000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4526279"/>
            <a:ext cx="41148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2324F"/>
                </a:solidFill>
                <a:latin typeface="Calibri"/>
              </a:rPr>
              <a:t>View</a:t>
            </a:r>
          </a:p>
          <a:p>
            <a:pPr algn="l"/>
            <a:r>
              <a:rPr sz="1200" b="0" i="0">
                <a:solidFill>
                  <a:srgbClr val="1B2433"/>
                </a:solidFill>
                <a:latin typeface="Calibri"/>
              </a:rPr>
              <a:t>Occupancy, dues and the Database tab, matched with SELECT in MySQL.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5806440"/>
            <a:ext cx="4480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E6A7E"/>
                </a:solidFill>
                <a:latin typeface="Calibri"/>
              </a:rPr>
              <a:t>Every page shows the SQL statement sent to MySQL.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73152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Conclusion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E0A33A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Hostel rooms, allotment, service requests and rent now live in one normalized database. The rules are enforced by MySQL itself, so they hold however the data is entered.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E0A33A"/>
                </a:solidFill>
                <a:latin typeface="Calibri"/>
              </a:rPr>
              <a:t>POSSIBLE EXTENSIONS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12064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Password login with role-based access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Email or SMS alerts on request status and dues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Online rent payment with late fees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Mess menu, mess bill and visitor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10972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66928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0" i="0">
                <a:solidFill>
                  <a:srgbClr val="E0A33A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